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Play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9fb8ef4fc_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9fb8ef4fc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9fb8ef4f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9fb8ef4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9fb8ef4fc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9fb8ef4f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9fb8ef4fc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9fb8ef4f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9fb8ef4fc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9fb8ef4f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640080" y="1371599"/>
            <a:ext cx="6675120" cy="295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40080" y="4584879"/>
            <a:ext cx="6675120" cy="128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66"/>
              <a:buNone/>
              <a:defRPr b="1" sz="18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4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66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92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92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ctrTitle"/>
          </p:nvPr>
        </p:nvSpPr>
        <p:spPr>
          <a:xfrm>
            <a:off x="640080" y="1371599"/>
            <a:ext cx="6675120" cy="295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40080" y="4584879"/>
            <a:ext cx="6675120" cy="1287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640080" y="1291366"/>
            <a:ext cx="9214884" cy="31599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640080" y="5018567"/>
            <a:ext cx="7907079" cy="1073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66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9" name="Google Shape;49;p7"/>
          <p:cNvCxnSpPr/>
          <p:nvPr/>
        </p:nvCxnSpPr>
        <p:spPr>
          <a:xfrm>
            <a:off x="716281" y="4715234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640080" y="2633472"/>
            <a:ext cx="52120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6318928" y="2633472"/>
            <a:ext cx="52120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640079" y="1371599"/>
            <a:ext cx="10890929" cy="939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640079" y="2311352"/>
            <a:ext cx="5212080" cy="695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640079" y="3006725"/>
            <a:ext cx="5212080" cy="3191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3" type="body"/>
          </p:nvPr>
        </p:nvSpPr>
        <p:spPr>
          <a:xfrm>
            <a:off x="6318928" y="2311352"/>
            <a:ext cx="5212080" cy="695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9"/>
          <p:cNvSpPr txBox="1"/>
          <p:nvPr>
            <p:ph idx="4" type="body"/>
          </p:nvPr>
        </p:nvSpPr>
        <p:spPr>
          <a:xfrm>
            <a:off x="6318928" y="3006725"/>
            <a:ext cx="5212080" cy="3191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640080" y="1371600"/>
            <a:ext cx="3859397" cy="1451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>
            <a:off x="4936519" y="1031001"/>
            <a:ext cx="6594490" cy="516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3286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36"/>
              <a:buChar char="•"/>
              <a:defRPr sz="2800"/>
            </a:lvl1pPr>
            <a:lvl2pPr indent="-361187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  <a:defRPr sz="2400"/>
            </a:lvl2pPr>
            <a:lvl3pPr indent="-339089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  <a:defRPr sz="2000"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 sz="1800"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4" name="Google Shape;74;p11"/>
          <p:cNvSpPr txBox="1"/>
          <p:nvPr>
            <p:ph idx="2" type="body"/>
          </p:nvPr>
        </p:nvSpPr>
        <p:spPr>
          <a:xfrm>
            <a:off x="640080" y="2972168"/>
            <a:ext cx="3859397" cy="3226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44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640080" y="1371600"/>
            <a:ext cx="3859397" cy="1451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/>
          <p:nvPr>
            <p:ph idx="2" type="pic"/>
          </p:nvPr>
        </p:nvSpPr>
        <p:spPr>
          <a:xfrm>
            <a:off x="4937760" y="1033271"/>
            <a:ext cx="6592824" cy="516636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2"/>
          <p:cNvSpPr txBox="1"/>
          <p:nvPr>
            <p:ph idx="1" type="body"/>
          </p:nvPr>
        </p:nvSpPr>
        <p:spPr>
          <a:xfrm>
            <a:off x="640080" y="2972167"/>
            <a:ext cx="3859397" cy="322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44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 rot="5400000">
            <a:off x="4302464" y="-1028912"/>
            <a:ext cx="3566160" cy="10890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 rot="5400000">
            <a:off x="7346663" y="2502635"/>
            <a:ext cx="5536884" cy="1811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 rot="5400000">
            <a:off x="2077849" y="-797689"/>
            <a:ext cx="5536884" cy="841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indent="-328041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indent="-328041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indent="-328041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indent="-328041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14"/>
          <p:cNvCxnSpPr/>
          <p:nvPr/>
        </p:nvCxnSpPr>
        <p:spPr>
          <a:xfrm rot="5400000">
            <a:off x="10872154" y="1192438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b="1" i="0" sz="4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09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4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28041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66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6992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92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05942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18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05942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18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713232" y="1031001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  <a:defRPr b="1" i="0" sz="4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09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28041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16992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05942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05942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713232" y="1031001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Vector background of vibrant colors splashi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17279"/>
          <a:stretch/>
        </p:blipFill>
        <p:spPr>
          <a:xfrm>
            <a:off x="-7728" y="-24938"/>
            <a:ext cx="1219197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-1" y="5705856"/>
            <a:ext cx="12192001" cy="1152144"/>
          </a:xfrm>
          <a:prstGeom prst="rect">
            <a:avLst/>
          </a:prstGeom>
          <a:solidFill>
            <a:schemeClr val="dk1">
              <a:alpha val="2784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6" name="Google Shape;106;p15"/>
          <p:cNvSpPr txBox="1"/>
          <p:nvPr>
            <p:ph type="ctrTitle"/>
          </p:nvPr>
        </p:nvSpPr>
        <p:spPr>
          <a:xfrm>
            <a:off x="7749" y="24938"/>
            <a:ext cx="7955280" cy="3404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i="1" lang="en-US" sz="6000"/>
              <a:t>Government</a:t>
            </a:r>
            <a:br>
              <a:rPr i="1" lang="en-US" sz="6000"/>
            </a:br>
            <a:r>
              <a:rPr i="1" lang="en-US" sz="6000"/>
              <a:t>Schemes</a:t>
            </a:r>
            <a:br>
              <a:rPr i="1" lang="en-US" sz="6000"/>
            </a:br>
            <a:r>
              <a:rPr i="1" lang="en-US" sz="6000"/>
              <a:t>Finder</a:t>
            </a:r>
            <a:endParaRPr i="1" sz="6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i="1" lang="en-US" sz="1655"/>
              <a:t>https://github.com/jayavardhan-g/govt-schemes</a:t>
            </a:r>
            <a:endParaRPr i="1" sz="1655"/>
          </a:p>
        </p:txBody>
      </p:sp>
      <p:sp>
        <p:nvSpPr>
          <p:cNvPr id="107" name="Google Shape;107;p15"/>
          <p:cNvSpPr txBox="1"/>
          <p:nvPr>
            <p:ph idx="1" type="subTitle"/>
          </p:nvPr>
        </p:nvSpPr>
        <p:spPr>
          <a:xfrm>
            <a:off x="7285055" y="4381081"/>
            <a:ext cx="4550330" cy="23519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</a:pPr>
            <a:r>
              <a:rPr lang="en-US">
                <a:solidFill>
                  <a:schemeClr val="dk1"/>
                </a:solidFill>
              </a:rPr>
              <a:t>TEAM MATES</a:t>
            </a:r>
            <a:endParaRPr/>
          </a:p>
          <a:p>
            <a:pPr indent="0" lvl="0" marL="0" rtl="0" algn="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</a:pPr>
            <a:r>
              <a:rPr lang="en-US">
                <a:solidFill>
                  <a:schemeClr val="dk1"/>
                </a:solidFill>
              </a:rPr>
              <a:t>SANDEEP (25M2139)</a:t>
            </a:r>
            <a:endParaRPr/>
          </a:p>
          <a:p>
            <a:pPr indent="0" lvl="0" marL="0" rtl="0" algn="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</a:pPr>
            <a:r>
              <a:rPr lang="en-US">
                <a:solidFill>
                  <a:schemeClr val="dk1"/>
                </a:solidFill>
              </a:rPr>
              <a:t>ADITYA (25M0748)</a:t>
            </a:r>
            <a:endParaRPr/>
          </a:p>
          <a:p>
            <a:pPr indent="0" lvl="0" marL="0" rtl="0" algn="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</a:pPr>
            <a:r>
              <a:rPr lang="en-US">
                <a:solidFill>
                  <a:schemeClr val="dk1"/>
                </a:solidFill>
              </a:rPr>
              <a:t>JAYAVARDHAN (25M0807)</a:t>
            </a:r>
            <a:endParaRPr/>
          </a:p>
        </p:txBody>
      </p:sp>
      <p:cxnSp>
        <p:nvCxnSpPr>
          <p:cNvPr id="108" name="Google Shape;108;p15"/>
          <p:cNvCxnSpPr/>
          <p:nvPr/>
        </p:nvCxnSpPr>
        <p:spPr>
          <a:xfrm rot="-5400000">
            <a:off x="-568323" y="6281928"/>
            <a:ext cx="1152144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640079" y="1389889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Bridging the Information Gap in Public Welfare Distribution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Despite the existence of hundreds of government welfare schemes intended to uplift various sections of society, a significant portion of the funds remain unutilized.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The primary reasons are </a:t>
            </a:r>
            <a:r>
              <a:rPr b="1" lang="en-US"/>
              <a:t>low awareness</a:t>
            </a:r>
            <a:r>
              <a:rPr lang="en-US"/>
              <a:t> and </a:t>
            </a:r>
            <a:r>
              <a:rPr b="1" lang="en-US"/>
              <a:t>information asymmetry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Citizens, especially in rural or lower-income brackets, struggle to find schemes relevant to them because the data is scattered across dozens of different ministry websites.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Adding to the problem - most of the government websites are </a:t>
            </a:r>
            <a:r>
              <a:rPr lang="en-US"/>
              <a:t>cluttered</a:t>
            </a:r>
            <a:r>
              <a:rPr lang="en-US"/>
              <a:t> and are difficult to navigate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Scope – Intelligent Government Scheme Matching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36"/>
              <a:buChar char="•"/>
            </a:pPr>
            <a:r>
              <a:rPr b="1" lang="en-US" sz="2800"/>
              <a:t>User profiling and management: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lang="en-US" sz="2400"/>
              <a:t>A secure registration and login system for citizens to create persistent profiles.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lang="en-US" sz="2400"/>
              <a:t>Collection of key demographic data points: </a:t>
            </a:r>
            <a:r>
              <a:rPr b="1" lang="en-US" sz="2400"/>
              <a:t>Age, Income, Gender, Occupation, Caste, State, Disability status,</a:t>
            </a:r>
            <a:r>
              <a:rPr lang="en-US" sz="2400"/>
              <a:t> and </a:t>
            </a:r>
            <a:r>
              <a:rPr b="1" lang="en-US" sz="2400"/>
              <a:t>Household size</a:t>
            </a:r>
            <a:r>
              <a:rPr lang="en-US" sz="2400"/>
              <a:t>.</a:t>
            </a:r>
            <a:endParaRPr/>
          </a:p>
          <a:p>
            <a:pPr indent="0" lvl="0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640080" y="1465118"/>
            <a:ext cx="10890928" cy="4364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36"/>
              <a:buChar char="•"/>
            </a:pPr>
            <a:r>
              <a:rPr b="1" lang="en-US" sz="2800"/>
              <a:t>Rule-Based Matching Engine:</a:t>
            </a:r>
            <a:endParaRPr sz="2800"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lang="en-US" sz="2400"/>
              <a:t>Development of a deterministic matching algorithm that evaluates user attributes against scheme criteria with higher logical accuracy.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lang="en-US" sz="2400"/>
              <a:t>Support for complex logical operators (GreaterThan, LessThan, Equals, InList) to handle criteria like </a:t>
            </a:r>
            <a:r>
              <a:rPr i="1" lang="en-US" sz="2400"/>
              <a:t>"Age between 18-35 AND Income &lt; 5 Lakhs"</a:t>
            </a:r>
            <a:r>
              <a:rPr lang="en-US" sz="2400"/>
              <a:t>.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lang="en-US" sz="2400"/>
              <a:t>Classification of results into </a:t>
            </a:r>
            <a:r>
              <a:rPr b="1" lang="en-US" sz="2400"/>
              <a:t>"Eligible," "Not Eligible,"</a:t>
            </a:r>
            <a:r>
              <a:rPr lang="en-US" sz="2400"/>
              <a:t> and </a:t>
            </a:r>
            <a:r>
              <a:rPr b="1" lang="en-US" sz="2400"/>
              <a:t>"Maybe Eligible"</a:t>
            </a:r>
            <a:r>
              <a:rPr lang="en-US" sz="2400"/>
              <a:t> (for cases with missing data).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640080" y="1465117"/>
            <a:ext cx="10890928" cy="51123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36"/>
              <a:buChar char="•"/>
            </a:pPr>
            <a:r>
              <a:rPr b="1" lang="en-US" sz="2800"/>
              <a:t>Admin &amp; Content Management: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lang="en-US" sz="2400"/>
              <a:t>A dashboard for administrators to manually add, edit, or delete schemes.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lang="en-US" sz="2400"/>
              <a:t>A verification workflow where scraped data is marked as "Unverified" until reviewed by a human admin.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36"/>
              <a:buChar char="•"/>
            </a:pPr>
            <a:r>
              <a:rPr b="1" lang="en-US" sz="2800"/>
              <a:t>Automated Data Pipeline (Prototype):</a:t>
            </a:r>
            <a:endParaRPr b="1" sz="2600"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lang="en-US" sz="2400"/>
              <a:t>A web scraping module capable of fetching scheme details (Title, Description) from external URLs.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lang="en-US" sz="2400"/>
              <a:t>A heuristic-based </a:t>
            </a:r>
            <a:r>
              <a:rPr b="1" lang="en-US" sz="2400"/>
              <a:t>Rule Extraction Engine</a:t>
            </a:r>
            <a:r>
              <a:rPr lang="en-US" sz="2400"/>
              <a:t> (NLP/Pattern Matching) that attempts to convert unstructured text (e.g., "must be earning less than 20k") into structured machine-readable JSON rules.</a:t>
            </a:r>
            <a:endParaRPr b="1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Limitations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b="1" lang="en-US"/>
              <a:t>Rule Extraction Accuracy: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The rule extractor relies on </a:t>
            </a:r>
            <a:r>
              <a:rPr b="1" lang="en-US"/>
              <a:t>keyword matching and heuristics</a:t>
            </a:r>
            <a:r>
              <a:rPr lang="en-US"/>
              <a:t> (Regular Expressions). Complex rules currently require manual verification by an admin.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b="1" lang="en-US"/>
              <a:t>Language Support: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The system currently processes and displays content in </a:t>
            </a:r>
            <a:r>
              <a:rPr b="1" lang="en-US"/>
              <a:t>English only</a:t>
            </a:r>
            <a:r>
              <a:rPr lang="en-US"/>
              <a:t>. </a:t>
            </a:r>
            <a:endParaRPr b="1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b="1" lang="en-US"/>
              <a:t>Attribute Limitation: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The matching is limited to the </a:t>
            </a:r>
            <a:r>
              <a:rPr b="1" lang="en-US"/>
              <a:t>8 specific attributes</a:t>
            </a:r>
            <a:r>
              <a:rPr lang="en-US"/>
              <a:t> defined in our model (Age, Income, etc.). Specialized schemes requiring niche criteria</a:t>
            </a:r>
            <a:endParaRPr/>
          </a:p>
          <a:p>
            <a:pPr indent="-11811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Future Scope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b="1" lang="en-US" sz="2400"/>
              <a:t>LLM Integration:</a:t>
            </a:r>
            <a:r>
              <a:rPr lang="en-US" sz="2400"/>
              <a:t> Replacing the Regex-based rule extractor with a Large Language Model (like GPT-4 or Llama) to parse complex legal text into JSON rules with near-human accuracy.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b="1" lang="en-US" sz="2400"/>
              <a:t>Multilingual Support:</a:t>
            </a:r>
            <a:r>
              <a:rPr lang="en-US" sz="2400"/>
              <a:t> Integrating Google Translate API to allow users to view schemes in their local language.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b="1" lang="en-US" sz="2400"/>
              <a:t>WhatsApp/SMS Integration:</a:t>
            </a:r>
            <a:r>
              <a:rPr lang="en-US" sz="2400"/>
              <a:t> Sending alerts to users when a new scheme matching their profile is added to the database.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30"/>
            <a:ext cx="12192000" cy="684733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0" y="3428999"/>
            <a:ext cx="335280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70C0"/>
                </a:solidFill>
                <a:latin typeface="Play"/>
                <a:ea typeface="Play"/>
                <a:cs typeface="Play"/>
                <a:sym typeface="Play"/>
              </a:rPr>
              <a:t>Architecture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70C0"/>
                </a:solidFill>
                <a:latin typeface="Play"/>
                <a:ea typeface="Play"/>
                <a:cs typeface="Play"/>
                <a:sym typeface="Play"/>
              </a:rPr>
              <a:t>&amp;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70C0"/>
                </a:solidFill>
                <a:latin typeface="Play"/>
                <a:ea typeface="Play"/>
                <a:cs typeface="Play"/>
                <a:sym typeface="Play"/>
              </a:rPr>
              <a:t>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70C0"/>
                </a:solidFill>
                <a:latin typeface="Play"/>
                <a:ea typeface="Play"/>
                <a:cs typeface="Play"/>
                <a:sym typeface="Play"/>
              </a:rPr>
              <a:t>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Technology Stack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b="1" lang="en-US" sz="2400"/>
              <a:t>Frontend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b="1" lang="en-US"/>
              <a:t>HTML5:</a:t>
            </a:r>
            <a:r>
              <a:rPr lang="en-US"/>
              <a:t> Structure of the web pages (forms, tables, dashboards).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b="1" lang="en-US"/>
              <a:t>CSS3:</a:t>
            </a:r>
            <a:r>
              <a:rPr lang="en-US"/>
              <a:t> Custom styling for the "clean" UI, including the progress bars and badge indicators. 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b="1" lang="en-US"/>
              <a:t>JavaScript (Vanilla ES6):</a:t>
            </a:r>
            <a:r>
              <a:rPr lang="en-US"/>
              <a:t> Client-side logic for the results table (sorting, filtering, color-coding matches) and dynamic form fallbacks.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b="1" lang="en-US"/>
              <a:t>Jinja2:</a:t>
            </a:r>
            <a:r>
              <a:rPr lang="en-US"/>
              <a:t> The Python templating engine used to inject data (like user profiles and match scores) into the HTML before it is sent to the browser.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640080" y="1662545"/>
            <a:ext cx="10890928" cy="4537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b="1" lang="en-US" sz="2400"/>
              <a:t>Backend (Server &amp; API)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b="1" lang="en-US"/>
              <a:t>Python 3.13:</a:t>
            </a:r>
            <a:r>
              <a:rPr lang="en-US"/>
              <a:t> The core programming language.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b="1" lang="en-US"/>
              <a:t>Flask:</a:t>
            </a:r>
            <a:r>
              <a:rPr lang="en-US"/>
              <a:t> A lightweight WSGI web application framework. It handles the HTTP routes (/, /match, /admin), sessions, and request context.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b="1" lang="en-US"/>
              <a:t>Werkzeug:</a:t>
            </a:r>
            <a:r>
              <a:rPr lang="en-US"/>
              <a:t> The library for Flask that handles password hashing (generate_password_hash) and secure authentication.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b="1" lang="en-US" sz="2400"/>
              <a:t>Core Logic (Matching Engine)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Python used for matching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JSON: Used as data structure for storing complex notations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Regular Expressions (re)</a:t>
            </a:r>
            <a:r>
              <a:rPr b="1" lang="en-US"/>
              <a:t>:</a:t>
            </a:r>
            <a:r>
              <a:rPr lang="en-US"/>
              <a:t> Used in the extraction pipeline to identify patterns like "Age 18-30" or "Income &lt; 1 Lakh" from raw text.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640080" y="1548245"/>
            <a:ext cx="10890928" cy="46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</a:pPr>
            <a:r>
              <a:rPr b="1" lang="en-US" sz="2400"/>
              <a:t>Web Scraping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Requests: For sending HTTP GET requests to fetch government websites.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BeautifulSoup4 (bs4): For parsing the HTML content of scraped websites to extract titles and text descriptions.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b="1" lang="en-US"/>
              <a:t>Database &amp; Persistence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SQLAlchemy (ORM): An Object Relational Mapper that allows us to interact with the database using Python classes (Scheme, UserProfile) instead of writing raw SQL.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PostgreSQL</a:t>
            </a:r>
            <a:r>
              <a:rPr b="1" lang="en-US"/>
              <a:t>:</a:t>
            </a:r>
            <a:r>
              <a:rPr lang="en-US"/>
              <a:t> The robust relational database management system (RDBMS) intended for the production environment.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640079" y="1174174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Contributions - Sandeep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640080" y="2271453"/>
            <a:ext cx="10890928" cy="4389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Built </a:t>
            </a:r>
            <a:r>
              <a:rPr b="1" lang="en-US"/>
              <a:t>automated scrapers</a:t>
            </a:r>
            <a:r>
              <a:rPr lang="en-US"/>
              <a:t> using Requests to extract government scheme data from multiple official portals.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Implemented </a:t>
            </a:r>
            <a:r>
              <a:rPr b="1" lang="en-US"/>
              <a:t>HTML archiving</a:t>
            </a:r>
            <a:r>
              <a:rPr lang="en-US"/>
              <a:t>, ensuring each scraped page was saved with timestamps for provenance.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Designed and developed the </a:t>
            </a:r>
            <a:r>
              <a:rPr b="1" lang="en-US"/>
              <a:t>data extraction pipeline</a:t>
            </a:r>
            <a:r>
              <a:rPr lang="en-US"/>
              <a:t>, including: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 sz="2000"/>
              <a:t>Title extraction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 sz="2000"/>
              <a:t>Description extraction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 sz="2000"/>
              <a:t>Eligibility text extraction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Performed </a:t>
            </a:r>
            <a:r>
              <a:rPr b="1" lang="en-US"/>
              <a:t>data cleaning and normalization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Did manual verification also because of the complexity of websites and errors produced</a:t>
            </a:r>
            <a:endParaRPr/>
          </a:p>
          <a:p>
            <a:pPr indent="-96012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88"/>
              <a:buNone/>
            </a:pPr>
            <a:r>
              <a:t/>
            </a:r>
            <a:endParaRPr sz="2400"/>
          </a:p>
          <a:p>
            <a:pPr indent="-96012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88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640079" y="1174174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Contributions - Aditya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640080" y="2271453"/>
            <a:ext cx="10890928" cy="4389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Designed the </a:t>
            </a:r>
            <a:r>
              <a:rPr b="1" lang="en-US"/>
              <a:t>eligibility rule schema</a:t>
            </a:r>
            <a:r>
              <a:rPr lang="en-US"/>
              <a:t> (JSON-based AST) to represent conditions like age, income, category, occupation, etc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Developed the </a:t>
            </a:r>
            <a:r>
              <a:rPr b="1" lang="en-US"/>
              <a:t>Rule Parser</a:t>
            </a:r>
            <a:r>
              <a:rPr lang="en-US"/>
              <a:t> using NLP to convert eligibility text into structured machine-readable rules.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Implemented detection algorithms for: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Numerical ranges (age, income)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Boolean conditions (disability, gender-based rules)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Category-based conditions (SC/ST/OBC)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Location/state-based restrictions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Did manual verification also because the regex-based rule system is not reliable</a:t>
            </a:r>
            <a:endParaRPr/>
          </a:p>
          <a:p>
            <a:pPr indent="-96012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88"/>
              <a:buNone/>
            </a:pPr>
            <a:r>
              <a:t/>
            </a:r>
            <a:endParaRPr sz="2400"/>
          </a:p>
          <a:p>
            <a:pPr indent="-96012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88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640079" y="1174174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Contributions - Jayavardhan</a:t>
            </a:r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640080" y="2271453"/>
            <a:ext cx="10890928" cy="4389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Designed and built the full </a:t>
            </a:r>
            <a:r>
              <a:rPr b="1" lang="en-US"/>
              <a:t>Flask web application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Implemented the </a:t>
            </a:r>
            <a:r>
              <a:rPr b="1" lang="en-US"/>
              <a:t>user-facing profile submission system</a:t>
            </a:r>
            <a:r>
              <a:rPr lang="en-US"/>
              <a:t> allowing users to enter age, income, state, occupation, caste, etc.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Created the </a:t>
            </a:r>
            <a:r>
              <a:rPr b="1" lang="en-US"/>
              <a:t>Admin Panel</a:t>
            </a:r>
            <a:r>
              <a:rPr lang="en-US"/>
              <a:t> (critical contribution):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Rule verification page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Editable JSON rule viewer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Admin authentication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Ability to save corrected rules back into DB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Implemented User Management so that the user doesn’t have to enter his/her details every time they visit</a:t>
            </a:r>
            <a:endParaRPr/>
          </a:p>
          <a:p>
            <a:pPr indent="-96012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88"/>
              <a:buNone/>
            </a:pPr>
            <a:r>
              <a:t/>
            </a:r>
            <a:endParaRPr sz="2400"/>
          </a:p>
          <a:p>
            <a:pPr indent="-96012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88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Timeline</a:t>
            </a:r>
            <a:endParaRPr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740"/>
              <a:buChar char="•"/>
            </a:pPr>
            <a:r>
              <a:rPr lang="en-US" u="sng"/>
              <a:t>Week 1(Oct 15-21):</a:t>
            </a:r>
            <a:r>
              <a:rPr lang="en-US"/>
              <a:t> Scraping and data Extraction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Found various government schemes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Scraped the titles, descriptions and eligibility texts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Cleaned the text and archived it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740"/>
              <a:buChar char="•"/>
            </a:pPr>
            <a:r>
              <a:rPr lang="en-US" u="sng"/>
              <a:t>Week 2(Oct 22-28):</a:t>
            </a:r>
            <a:r>
              <a:rPr lang="en-US"/>
              <a:t> Rule schema and parser</a:t>
            </a:r>
            <a:endParaRPr/>
          </a:p>
          <a:p>
            <a:pPr indent="-228600" lvl="1" marL="493776" rtl="0" algn="l">
              <a:spcBef>
                <a:spcPts val="10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Designed JSON-based eligibility rule schema(AST)</a:t>
            </a:r>
            <a:endParaRPr/>
          </a:p>
          <a:p>
            <a:pPr indent="-228600" lvl="1" marL="493776" rtl="0" algn="l">
              <a:spcBef>
                <a:spcPts val="10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Built a regex/NLP-based rule parser to convert raw eligibility text into structured rules</a:t>
            </a:r>
            <a:endParaRPr/>
          </a:p>
          <a:p>
            <a:pPr indent="-228600" lvl="1" marL="493776" rtl="0" algn="l">
              <a:spcBef>
                <a:spcPts val="10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Implemented detection for various eligibility metrics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 flipH="1" rot="10800000">
            <a:off x="640075" y="127455"/>
            <a:ext cx="10890900" cy="31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640075" y="552250"/>
            <a:ext cx="10890900" cy="5647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740"/>
              <a:buChar char="•"/>
            </a:pPr>
            <a:r>
              <a:rPr lang="en-US" u="sng"/>
              <a:t>Week 3(Oct 29-Nov 4):</a:t>
            </a:r>
            <a:r>
              <a:rPr lang="en-US"/>
              <a:t> Flask app, user system and admin panel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Built complete Flask web app structure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Implemented user profile submission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Add persistent user accounts as well as authentication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Created the admin panel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566"/>
              <a:buChar char="•"/>
            </a:pPr>
            <a:r>
              <a:rPr lang="en-US" u="sng"/>
              <a:t>Week 4(Nov 5-Nov 10):</a:t>
            </a:r>
            <a:r>
              <a:rPr lang="en-US"/>
              <a:t> Matching engine and integration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Integrate scraper → parser → admin verification → matching engine.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Frontend polishing: clean UI, sorting/filtering, badge indicators.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Test edge cases in parser &amp; web scraping.</a:t>
            </a:r>
            <a:endParaRPr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566"/>
              <a:buChar char="•"/>
            </a:pPr>
            <a:r>
              <a:rPr lang="en-US" u="sng"/>
              <a:t>Nov 11-13:</a:t>
            </a:r>
            <a:r>
              <a:rPr lang="en-US"/>
              <a:t> Demo prep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Verified schemes and finalized rules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Prepare sample user profiles for demonstration</a:t>
            </a:r>
            <a:endParaRPr/>
          </a:p>
          <a:p>
            <a:pPr indent="-228600" lvl="1" marL="493776" rtl="0" algn="l"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Create PPT, architecture diagrams and flow explanation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592204" y="1"/>
            <a:ext cx="10890900" cy="109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Homepage</a:t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202" y="785450"/>
            <a:ext cx="9219400" cy="5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699904" y="1"/>
            <a:ext cx="10890900" cy="109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Signup and Login</a:t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4" y="780300"/>
            <a:ext cx="4770350" cy="55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6725" y="780300"/>
            <a:ext cx="5001850" cy="558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40079" y="1"/>
            <a:ext cx="10890900" cy="109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Page</a:t>
            </a:r>
            <a:endParaRPr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801" y="894000"/>
            <a:ext cx="9503424" cy="58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640079" y="1371601"/>
            <a:ext cx="10890900" cy="109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640080" y="2633472"/>
            <a:ext cx="10890900" cy="356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40" y="0"/>
            <a:ext cx="11681669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Challenges faced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Web Scraping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Inconsistent website structures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websites go down at random time.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</a:pPr>
            <a:r>
              <a:rPr lang="en-US"/>
              <a:t>Handling JavaScript-rendered pages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</a:pPr>
            <a:r>
              <a:rPr lang="en-US"/>
              <a:t>Parser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Setting up sophisticated regex rules to catch all information</a:t>
            </a:r>
            <a:endParaRPr/>
          </a:p>
          <a:p>
            <a:pPr indent="-228600" lvl="1" marL="493776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66"/>
              <a:buChar char="•"/>
            </a:pPr>
            <a:r>
              <a:rPr lang="en-US"/>
              <a:t>Utilizing appropriate tests to check various edge cases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shVTI">
  <a:themeElements>
    <a:clrScheme name="Custom 6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shVTI">
  <a:themeElements>
    <a:clrScheme name="Custom 6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